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28446984" cy="5120640"/>
          </a:xfrm>
          <a:prstGeom prst="roundRect">
            <a:avLst>
              <a:gd name="adj" fmla="val 535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645920" y="1143000"/>
            <a:ext cx="26983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CFE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　徳山工業高等専門学校　情報電子工学科　卒業研究中間発表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1874520"/>
            <a:ext cx="269839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地図制約付き移動様態適応パーティクルフィルタによる</a:t>
            </a:r>
            <a:endParaRPr lang="en-US" sz="8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スマートフォン屋内歩行者測位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4709160"/>
            <a:ext cx="2698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佐藤 壮真（浦上研究室）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6400800"/>
            <a:ext cx="1051560" cy="10515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6400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6355080"/>
            <a:ext cx="124861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研究背景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7863840"/>
            <a:ext cx="138577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屋内ではGPS（GNSS）の信号が弱く，測位が難しい[1]</a:t>
            </a:r>
            <a:endParaRPr lang="en-US" sz="3000" dirty="0"/>
          </a:p>
          <a:p>
            <a:pPr marL="381000" indent="-381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Wi-Fi・BLEビーコンは，発信機の設置や維持にコストがかかる[2]</a:t>
            </a:r>
            <a:endParaRPr lang="en-US" sz="3000" dirty="0"/>
          </a:p>
          <a:p>
            <a:pPr marL="381000" indent="-381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スマートフォンの慣性計測装置（IMU）で歩数・歩幅・方位を求めて位置を積み上げる歩行者推測航法（PDR：Pedestrian Dead Reckoning）は設備不要だが，歩くほど誤差が累積する[2]</a:t>
            </a:r>
            <a:endParaRPr lang="en-US" sz="3000" dirty="0"/>
          </a:p>
        </p:txBody>
      </p:sp>
      <p:pic>
        <p:nvPicPr>
          <p:cNvPr id="10" name="Image 0" descr="中間発表/図/poster/poster_誤差の累積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0789920"/>
            <a:ext cx="10565892" cy="42274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15063060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方位が3度ずれると，30m歩いた時点で推定が壁を通り抜ける（計算例）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14400" y="15886020"/>
            <a:ext cx="1051560" cy="10515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158860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5840300"/>
            <a:ext cx="124861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5600" dirty="0"/>
          </a:p>
        </p:txBody>
      </p:sp>
      <p:sp>
        <p:nvSpPr>
          <p:cNvPr id="15" name="Shape 12"/>
          <p:cNvSpPr/>
          <p:nvPr/>
        </p:nvSpPr>
        <p:spPr>
          <a:xfrm>
            <a:off x="914400" y="17349060"/>
            <a:ext cx="13857732" cy="1600200"/>
          </a:xfrm>
          <a:prstGeom prst="roundRect">
            <a:avLst>
              <a:gd name="adj" fmla="val 11429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80160" y="17440500"/>
            <a:ext cx="131262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追加の設備なしで，建物の地図だけでPDRの誤差を抑える</a:t>
            </a:r>
            <a:endParaRPr lang="en-US" sz="38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19223580"/>
            <a:ext cx="138577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移動様態適応パーティクルフィルタ（PF）[4]（直進・曲がり・滞留の様態ごとに粒子数とノイズを変える方式）に，次の2点を加える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914400" y="20412300"/>
            <a:ext cx="6700266" cy="6858000"/>
          </a:xfrm>
          <a:prstGeom prst="roundRect">
            <a:avLst>
              <a:gd name="adj" fmla="val 2729"/>
            </a:avLst>
          </a:prstGeom>
          <a:solidFill>
            <a:srgbClr val="FCF1D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20686620"/>
            <a:ext cx="606018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提案1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経路帯の自動抽出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24938580"/>
            <a:ext cx="606018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二値化した平面図から通路を経路帯として自動で抽出し，経路帯の外の粒子は重みを0にする．経路の手入力は不要</a:t>
            </a:r>
            <a:endParaRPr lang="en-US" sz="2600" dirty="0"/>
          </a:p>
        </p:txBody>
      </p:sp>
      <p:pic>
        <p:nvPicPr>
          <p:cNvPr id="21" name="Image 1" descr="中間発表/図/poster/poster_経路帯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195380"/>
            <a:ext cx="6243066" cy="254110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071866" y="20412300"/>
            <a:ext cx="6700266" cy="6858000"/>
          </a:xfrm>
          <a:prstGeom prst="roundRect">
            <a:avLst>
              <a:gd name="adj" fmla="val 2729"/>
            </a:avLst>
          </a:prstGeom>
          <a:solidFill>
            <a:srgbClr val="FCF1D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391906" y="20686620"/>
            <a:ext cx="606018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提案2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不確実性適応粒子数</a:t>
            </a:r>
            <a:endParaRPr lang="en-US" sz="3600" dirty="0"/>
          </a:p>
        </p:txBody>
      </p:sp>
      <p:sp>
        <p:nvSpPr>
          <p:cNvPr id="24" name="Text 20"/>
          <p:cNvSpPr txBox="1"/>
          <p:nvPr/>
        </p:nvSpPr>
        <p:spPr>
          <a:xfrm>
            <a:off x="8391906" y="24938580"/>
            <a:ext cx="606018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直前の1歩での比率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= 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pPr indent="0" marL="0">
              <a:lnSpc>
                <a:spcPct val="110000"/>
              </a:lnSpc>
              <a:buNone/>
            </a:pPr>
            <a:r>
              <a:rPr lang="en-US" sz="2600" baseline="-400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eff</a:t>
            </a:r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</a:t>
            </a:r>
            <a:pPr indent="0" marL="0">
              <a:lnSpc>
                <a:spcPct val="110000"/>
              </a:lnSpc>
              <a:buNone/>
            </a:pPr>
            <a:r>
              <a:rPr lang="en-US" sz="2600" i="1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が0.30未満なら粒子数を1.5倍，0.60超なら0.75倍にする．上下限の80〜1200個は，粒子数を変えた実験で確かめた</a:t>
            </a:r>
            <a:endParaRPr lang="en-US" sz="2600" dirty="0"/>
          </a:p>
        </p:txBody>
      </p:sp>
      <p:pic>
        <p:nvPicPr>
          <p:cNvPr id="25" name="Image 2" descr="中間発表/図/poster/poster_式_Ne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826" y="22332540"/>
            <a:ext cx="5054346" cy="16497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91906" y="24024180"/>
            <a:ext cx="60601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pPr indent="0" marL="0">
              <a:buNone/>
            </a:pPr>
            <a:r>
              <a:rPr lang="en-US" sz="2200" baseline="-400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eff</a:t>
            </a:r>
            <a:pPr indent="0" marL="0">
              <a:buNone/>
            </a:pPr>
            <a:r>
              <a:rPr lang="en-US" sz="22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：有効粒子数（効いている粒子の数）[5]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14400" y="27727500"/>
            <a:ext cx="1051560" cy="10515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14400" y="277275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4800" dirty="0"/>
          </a:p>
        </p:txBody>
      </p:sp>
      <p:sp>
        <p:nvSpPr>
          <p:cNvPr id="29" name="Text 24"/>
          <p:cNvSpPr txBox="1"/>
          <p:nvPr/>
        </p:nvSpPr>
        <p:spPr>
          <a:xfrm>
            <a:off x="2240280" y="27681780"/>
            <a:ext cx="124861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</a:t>
            </a:r>
            <a:endParaRPr lang="en-US" sz="5600" dirty="0"/>
          </a:p>
        </p:txBody>
      </p:sp>
      <p:pic>
        <p:nvPicPr>
          <p:cNvPr id="30" name="Image 3" descr="中間発表/図/poster/poster_処理の流れ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190540"/>
            <a:ext cx="7955280" cy="931964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144000" y="29373420"/>
            <a:ext cx="5628132" cy="913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PDR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SmartPDR[3]で1歩を検出し，歩幅と方位から移動量を求める．歩調の上限2.9Hzで過検出を防ぎ，歩幅に校正ゲイン（暫定値2.10）を掛ける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移動様態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直近1.5秒の方位変化と，ヨーレートの75パーセンタイルで，直進／曲がりを判定する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</a:t>
            </a:r>
            <a:endParaRPr lang="en-US" sz="2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1歩ごとに粒子を動かし，壁を横切った粒子と経路帯の外の粒子の重みを0にする[4]．壁に近い粒子は重みを下げる．歩行が検出されない滞留中は，PFを更新しない</a:t>
            </a:r>
            <a:endParaRPr lang="en-US" sz="2600" dirty="0"/>
          </a:p>
        </p:txBody>
      </p:sp>
      <p:sp>
        <p:nvSpPr>
          <p:cNvPr id="32" name="Text 26"/>
          <p:cNvSpPr txBox="1"/>
          <p:nvPr/>
        </p:nvSpPr>
        <p:spPr>
          <a:xfrm>
            <a:off x="914400" y="39145464"/>
            <a:ext cx="138577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[1] 目黒淳一，竹内栄二朗，鈴木太郎：ロボティクスにおけるGNSS失敗学，日本ロボット学会誌，Vol.37，No.7，pp.585–592，2019．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[2] 西尾信彦：屋内測位技術の概要と動向，電気設備学会誌，Vol.42，No.7，pp.393–396，2022．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[3] W. Kang and Y. Han: SmartPDR: Smartphone-Based Pedestrian Dead Reckoning for Indoor Localization, IEEE Sensors Journal, Vol.15, No.5, pp.2906–2916, 2015.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[4] 秋山高行，中原豪，山崎勝也，大橋洋輝，佐藤暁子：移動様態に応じたパーティクルフィルタによる歩行者自律測位方式の提案と評価，FIT2013，RO-017，pp.165–171，2013．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[5] M. S. Arulampalam, S. Maskell, N. Gordon and T. Clapp: A Tutorial on Particle Filters for Online Nonlinear/Non-Gaussian Bayesian Tracking, IEEE Trans. Signal Processing, Vol.50, No.2, pp.174–188, 2002.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15503652" y="6400800"/>
            <a:ext cx="1051560" cy="10515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5503652" y="6400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4800" dirty="0"/>
          </a:p>
        </p:txBody>
      </p:sp>
      <p:sp>
        <p:nvSpPr>
          <p:cNvPr id="35" name="Text 29"/>
          <p:cNvSpPr txBox="1"/>
          <p:nvPr/>
        </p:nvSpPr>
        <p:spPr>
          <a:xfrm>
            <a:off x="16829532" y="6355080"/>
            <a:ext cx="124861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</a:t>
            </a:r>
            <a:endParaRPr lang="en-US" sz="5600" dirty="0"/>
          </a:p>
        </p:txBody>
      </p:sp>
      <p:sp>
        <p:nvSpPr>
          <p:cNvPr id="36" name="Text 30"/>
          <p:cNvSpPr txBox="1"/>
          <p:nvPr/>
        </p:nvSpPr>
        <p:spPr>
          <a:xfrm>
            <a:off x="15503652" y="7863840"/>
            <a:ext cx="138577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実装・改善したこと</a:t>
            </a:r>
            <a:endParaRPr lang="en-US" sz="3600" dirty="0"/>
          </a:p>
        </p:txBody>
      </p:sp>
      <p:sp>
        <p:nvSpPr>
          <p:cNvPr id="37" name="Shape 31"/>
          <p:cNvSpPr/>
          <p:nvPr/>
        </p:nvSpPr>
        <p:spPr>
          <a:xfrm>
            <a:off x="15503652" y="8641080"/>
            <a:ext cx="4375404" cy="2423160"/>
          </a:xfrm>
          <a:prstGeom prst="roundRect">
            <a:avLst>
              <a:gd name="adj" fmla="val 7547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5503652" y="8869680"/>
            <a:ext cx="43754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±5%以内</a:t>
            </a:r>
            <a:endParaRPr lang="en-US" sz="5000" dirty="0"/>
          </a:p>
        </p:txBody>
      </p:sp>
      <p:sp>
        <p:nvSpPr>
          <p:cNvPr id="39" name="Text 33"/>
          <p:cNvSpPr txBox="1"/>
          <p:nvPr/>
        </p:nvSpPr>
        <p:spPr>
          <a:xfrm>
            <a:off x="15503652" y="9921240"/>
            <a:ext cx="4375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検出した歩数の誤差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（過検出を是正）</a:t>
            </a:r>
            <a:endParaRPr lang="en-US" sz="2400" dirty="0"/>
          </a:p>
        </p:txBody>
      </p:sp>
      <p:sp>
        <p:nvSpPr>
          <p:cNvPr id="40" name="Shape 34"/>
          <p:cNvSpPr/>
          <p:nvPr/>
        </p:nvSpPr>
        <p:spPr>
          <a:xfrm>
            <a:off x="20244816" y="8641080"/>
            <a:ext cx="4375404" cy="2423160"/>
          </a:xfrm>
          <a:prstGeom prst="roundRect">
            <a:avLst>
              <a:gd name="adj" fmla="val 7547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20244816" y="8869680"/>
            <a:ext cx="43754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10.7→1.0回</a:t>
            </a:r>
            <a:endParaRPr lang="en-US" sz="5000" dirty="0"/>
          </a:p>
        </p:txBody>
      </p:sp>
      <p:sp>
        <p:nvSpPr>
          <p:cNvPr id="42" name="Text 36"/>
          <p:cNvSpPr txBox="1"/>
          <p:nvPr/>
        </p:nvSpPr>
        <p:spPr>
          <a:xfrm>
            <a:off x="20244816" y="9921240"/>
            <a:ext cx="4375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全滅回数（2本の平均）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9月2日の是正の前後</a:t>
            </a:r>
            <a:endParaRPr lang="en-US" sz="2400" dirty="0"/>
          </a:p>
        </p:txBody>
      </p:sp>
      <p:sp>
        <p:nvSpPr>
          <p:cNvPr id="43" name="Shape 37"/>
          <p:cNvSpPr/>
          <p:nvPr/>
        </p:nvSpPr>
        <p:spPr>
          <a:xfrm>
            <a:off x="24985980" y="8641080"/>
            <a:ext cx="4375404" cy="2423160"/>
          </a:xfrm>
          <a:prstGeom prst="roundRect">
            <a:avLst>
              <a:gd name="adj" fmla="val 7547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24985980" y="8869680"/>
            <a:ext cx="43754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提案1・2</a:t>
            </a:r>
            <a:endParaRPr lang="en-US" sz="5000" dirty="0"/>
          </a:p>
        </p:txBody>
      </p:sp>
      <p:sp>
        <p:nvSpPr>
          <p:cNvPr id="45" name="Text 39"/>
          <p:cNvSpPr txBox="1"/>
          <p:nvPr/>
        </p:nvSpPr>
        <p:spPr>
          <a:xfrm>
            <a:off x="24985980" y="9921240"/>
            <a:ext cx="43754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実装して既定で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有効にした</a:t>
            </a:r>
            <a:endParaRPr lang="en-US" sz="2400" dirty="0"/>
          </a:p>
        </p:txBody>
      </p:sp>
      <p:sp>
        <p:nvSpPr>
          <p:cNvPr id="46" name="Text 40"/>
          <p:cNvSpPr txBox="1"/>
          <p:nvPr/>
        </p:nvSpPr>
        <p:spPr>
          <a:xfrm>
            <a:off x="15503652" y="11384280"/>
            <a:ext cx="138577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4方式の比較（実測データ 記録1441・1442）</a:t>
            </a:r>
            <a:endParaRPr lang="en-US" sz="3600" dirty="0"/>
          </a:p>
        </p:txBody>
      </p:sp>
      <p:pic>
        <p:nvPicPr>
          <p:cNvPr id="47" name="Image 4" descr="中間発表/図/poster/poster_推定軌跡_1441_144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2372" y="12161520"/>
            <a:ext cx="11480292" cy="10468785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5503652" y="22676025"/>
            <a:ext cx="1385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推定軌跡（乱数のシード42の1回分）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03652" y="23270385"/>
          <a:ext cx="13857732" cy="914400"/>
        </p:xfrm>
        <a:graphic>
          <a:graphicData uri="http://schemas.openxmlformats.org/drawingml/2006/table">
            <a:tbl>
              <a:tblPr/>
              <a:tblGrid>
                <a:gridCol w="4343400"/>
                <a:gridCol w="2514600"/>
                <a:gridCol w="1737360"/>
                <a:gridCol w="2514600"/>
                <a:gridCol w="1737360"/>
              </a:tblGrid>
              <a:tr h="53035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方式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記録1441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記録1442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 hMerge="1">
                  <a:tcPr/>
                </a:tc>
              </a:tr>
              <a:tr h="53035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終点誤差[m]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全滅[回]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終点誤差[m]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全滅[回]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PDRのみ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18.46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13.32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 固定粒子数PF（600個）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17.49±1.39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0.00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19.02±6.84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2.67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 移動様態適応PF[4]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17.16±0.53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0.00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13.29±1.54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1.50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 提案方式(C＋提案1・2)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4C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15.75±0.43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0.00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4C5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12.57±1.21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0.17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Text 42"/>
          <p:cNvSpPr txBox="1"/>
          <p:nvPr/>
        </p:nvSpPr>
        <p:spPr>
          <a:xfrm>
            <a:off x="15503652" y="26635377"/>
            <a:ext cx="138577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5B61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シードの平均±標準偏差（Aは乱数を使わないので1回）．2本は条件の調整に用いたデータで評価用ではない．時刻と対応した正解位置がないため，RMSEの代わりに終点誤差（推定の終点と申告した終点の距離）を見た</a:t>
            </a:r>
            <a:endParaRPr lang="en-US" sz="2000" dirty="0"/>
          </a:p>
        </p:txBody>
      </p:sp>
      <p:sp>
        <p:nvSpPr>
          <p:cNvPr id="51" name="Text 43"/>
          <p:cNvSpPr txBox="1"/>
          <p:nvPr/>
        </p:nvSpPr>
        <p:spPr>
          <a:xfrm>
            <a:off x="15503652" y="27869817"/>
            <a:ext cx="138577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提案方式Eは2本とも通路に沿い，終点誤差が最も小さかった．</a:t>
            </a:r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ただし，Cとの差は0.7〜1.4mと小さい</a:t>
            </a:r>
            <a:endParaRPr lang="en-US" sz="2800" dirty="0"/>
          </a:p>
        </p:txBody>
      </p:sp>
      <p:sp>
        <p:nvSpPr>
          <p:cNvPr id="52" name="Text 44"/>
          <p:cNvSpPr txBox="1"/>
          <p:nvPr/>
        </p:nvSpPr>
        <p:spPr>
          <a:xfrm>
            <a:off x="15503652" y="29195697"/>
            <a:ext cx="138577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分かった課題：移動様態の判定が「曲がり」から戻らない</a:t>
            </a:r>
            <a:endParaRPr lang="en-US" sz="3600" dirty="0"/>
          </a:p>
        </p:txBody>
      </p:sp>
      <p:pic>
        <p:nvPicPr>
          <p:cNvPr id="53" name="Image 5" descr="中間発表/図/poster/poster_曲がり判定_1441_144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3652" y="29972937"/>
            <a:ext cx="8778240" cy="739397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24556212" y="30247257"/>
            <a:ext cx="4805172" cy="711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実際の曲がり角は2か所だが，歩数の85〜100%が「曲がり」と判定された</a:t>
            </a:r>
            <a:endParaRPr lang="en-US" sz="2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2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直進中も歩行の揺れでヨーレートが15〜19度/秒あり，曲がりを終えるしきい値（10度/秒）を下回らない</a:t>
            </a:r>
            <a:endParaRPr lang="en-US" sz="2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endParaRPr lang="en-US" sz="2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今は，移動様態に合わせる効果（BとCの差）を示せていない</a:t>
            </a:r>
            <a:endParaRPr lang="en-US" sz="2500" dirty="0"/>
          </a:p>
        </p:txBody>
      </p:sp>
      <p:sp>
        <p:nvSpPr>
          <p:cNvPr id="55" name="Shape 46"/>
          <p:cNvSpPr/>
          <p:nvPr/>
        </p:nvSpPr>
        <p:spPr>
          <a:xfrm>
            <a:off x="15503652" y="37824107"/>
            <a:ext cx="1051560" cy="10515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15503652" y="37824107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4800" dirty="0"/>
          </a:p>
        </p:txBody>
      </p:sp>
      <p:sp>
        <p:nvSpPr>
          <p:cNvPr id="57" name="Text 48"/>
          <p:cNvSpPr txBox="1"/>
          <p:nvPr/>
        </p:nvSpPr>
        <p:spPr>
          <a:xfrm>
            <a:off x="16829532" y="37778387"/>
            <a:ext cx="124861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今後の予定</a:t>
            </a:r>
            <a:endParaRPr lang="en-US" sz="5600" dirty="0"/>
          </a:p>
        </p:txBody>
      </p:sp>
      <p:sp>
        <p:nvSpPr>
          <p:cNvPr id="58" name="Shape 49"/>
          <p:cNvSpPr/>
          <p:nvPr/>
        </p:nvSpPr>
        <p:spPr>
          <a:xfrm>
            <a:off x="15503652" y="39287147"/>
            <a:ext cx="3155823" cy="2601517"/>
          </a:xfrm>
          <a:prstGeom prst="roundRect">
            <a:avLst>
              <a:gd name="adj" fmla="val 5272"/>
            </a:avLst>
          </a:prstGeom>
          <a:solidFill>
            <a:srgbClr val="FCF1D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15640812" y="39470027"/>
            <a:ext cx="28815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追加計測</a:t>
            </a:r>
            <a:endParaRPr lang="en-US" sz="2800" dirty="0"/>
          </a:p>
        </p:txBody>
      </p:sp>
      <p:sp>
        <p:nvSpPr>
          <p:cNvPr id="60" name="Text 51"/>
          <p:cNvSpPr txBox="1"/>
          <p:nvPr/>
        </p:nvSpPr>
        <p:spPr>
          <a:xfrm>
            <a:off x="15686532" y="40155827"/>
            <a:ext cx="2790063" cy="159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校正用の直線歩行と，地点ごとに時刻を記録する評価用の歩行</a:t>
            </a:r>
            <a:endParaRPr lang="en-US" sz="2100" dirty="0"/>
          </a:p>
        </p:txBody>
      </p:sp>
      <p:sp>
        <p:nvSpPr>
          <p:cNvPr id="61" name="Shape 52"/>
          <p:cNvSpPr/>
          <p:nvPr/>
        </p:nvSpPr>
        <p:spPr>
          <a:xfrm>
            <a:off x="18705195" y="40313586"/>
            <a:ext cx="320040" cy="54864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19070955" y="39287147"/>
            <a:ext cx="3155823" cy="2601517"/>
          </a:xfrm>
          <a:prstGeom prst="roundRect">
            <a:avLst>
              <a:gd name="adj" fmla="val 5272"/>
            </a:avLst>
          </a:prstGeom>
          <a:solidFill>
            <a:srgbClr val="FCF1D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19208115" y="39470027"/>
            <a:ext cx="28815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条件の決め直し</a:t>
            </a:r>
            <a:endParaRPr lang="en-US" sz="2800" dirty="0"/>
          </a:p>
        </p:txBody>
      </p:sp>
      <p:sp>
        <p:nvSpPr>
          <p:cNvPr id="64" name="Text 55"/>
          <p:cNvSpPr txBox="1"/>
          <p:nvPr/>
        </p:nvSpPr>
        <p:spPr>
          <a:xfrm>
            <a:off x="19253835" y="40155827"/>
            <a:ext cx="2790063" cy="159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歩幅の校正ゲインと曲がり終了のしきい値を校正用データで決め直す</a:t>
            </a:r>
            <a:endParaRPr lang="en-US" sz="2100" dirty="0"/>
          </a:p>
        </p:txBody>
      </p:sp>
      <p:sp>
        <p:nvSpPr>
          <p:cNvPr id="65" name="Shape 56"/>
          <p:cNvSpPr/>
          <p:nvPr/>
        </p:nvSpPr>
        <p:spPr>
          <a:xfrm>
            <a:off x="22272498" y="40313586"/>
            <a:ext cx="320040" cy="54864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22638258" y="39287147"/>
            <a:ext cx="3155823" cy="2601517"/>
          </a:xfrm>
          <a:prstGeom prst="roundRect">
            <a:avLst>
              <a:gd name="adj" fmla="val 5272"/>
            </a:avLst>
          </a:prstGeom>
          <a:solidFill>
            <a:srgbClr val="FCF1DE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22775418" y="39470027"/>
            <a:ext cx="28815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RMSEで比較</a:t>
            </a:r>
            <a:endParaRPr lang="en-US" sz="2800" dirty="0"/>
          </a:p>
        </p:txBody>
      </p:sp>
      <p:sp>
        <p:nvSpPr>
          <p:cNvPr id="68" name="Text 59"/>
          <p:cNvSpPr txBox="1"/>
          <p:nvPr/>
        </p:nvSpPr>
        <p:spPr>
          <a:xfrm>
            <a:off x="22821138" y="40155827"/>
            <a:ext cx="2790063" cy="159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正解位置を用いたRMSEで4方式を比べ，提案1・2の効果を確かめる（11月末まで）</a:t>
            </a:r>
            <a:endParaRPr lang="en-US" sz="2100" dirty="0"/>
          </a:p>
        </p:txBody>
      </p:sp>
      <p:sp>
        <p:nvSpPr>
          <p:cNvPr id="69" name="Shape 60"/>
          <p:cNvSpPr/>
          <p:nvPr/>
        </p:nvSpPr>
        <p:spPr>
          <a:xfrm>
            <a:off x="25839801" y="40313586"/>
            <a:ext cx="320040" cy="54864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26205561" y="39287147"/>
            <a:ext cx="3155823" cy="2601517"/>
          </a:xfrm>
          <a:prstGeom prst="roundRect">
            <a:avLst>
              <a:gd name="adj" fmla="val 5272"/>
            </a:avLst>
          </a:prstGeom>
          <a:solidFill>
            <a:srgbClr val="E8F1F2"/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26342721" y="39470027"/>
            <a:ext cx="28815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卒業論文</a:t>
            </a:r>
            <a:endParaRPr lang="en-US" sz="2800" dirty="0"/>
          </a:p>
        </p:txBody>
      </p:sp>
      <p:sp>
        <p:nvSpPr>
          <p:cNvPr id="72" name="Text 63"/>
          <p:cNvSpPr txBox="1"/>
          <p:nvPr/>
        </p:nvSpPr>
        <p:spPr>
          <a:xfrm>
            <a:off x="26388441" y="40155827"/>
            <a:ext cx="2790063" cy="159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12月に全章の初稿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中間発表ポスター</dc:title>
  <dc:subject>PptxGenJS Presentation</dc:subject>
  <dc:creator>PptxGenJS</dc:creator>
  <cp:lastModifiedBy>PptxGenJS</cp:lastModifiedBy>
  <cp:revision>1</cp:revision>
  <dcterms:created xsi:type="dcterms:W3CDTF">2026-10-14T02:45:10Z</dcterms:created>
  <dcterms:modified xsi:type="dcterms:W3CDTF">2026-10-14T02:45:10Z</dcterms:modified>
</cp:coreProperties>
</file>